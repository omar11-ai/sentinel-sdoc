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 b="1">
                <a:solidFill>
                  <a:srgbClr val="4DA3FF"/>
                </a:solidFill>
              </a:rPr>
              <a:t>SENTINEL</a:t>
            </a:r>
          </a:p>
          <a:p>
            <a:r>
              <a:rPr sz="2600">
                <a:solidFill>
                  <a:srgbClr val="E8EEFF"/>
                </a:solidFill>
              </a:rPr>
              <a:t>Shipping Document Verification — SI ⇄ BL discrepancy intelligence</a:t>
            </a:r>
          </a:p>
          <a:p>
            <a:r>
              <a:rPr sz="1800">
                <a:solidFill>
                  <a:srgbClr val="8FA3CC"/>
                </a:solidFill>
              </a:rPr>
              <a:t>From a 520-email shipping inbox to verified, evidence-backed decisions</a:t>
            </a:r>
          </a:p>
          <a:p>
            <a:r>
              <a:rPr sz="1600">
                <a:solidFill>
                  <a:srgbClr val="8FA3CC"/>
                </a:solidFill>
              </a:rPr>
              <a:t>Averis × Monash Hackathon 2026  ·  [TEAM NAME]  ·  [MEMBERS]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4DA3FF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E8EEFF"/>
                </a:solidFill>
              </a:rPr>
              <a:t>One inbox, five kinds of mail: document checks, SI requests, invoice queries, general, spam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8EEFF"/>
                </a:solidFill>
              </a:rPr>
              <a:t>A missed document-check request never reaches verification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8EEFF"/>
                </a:solidFill>
              </a:rPr>
              <a:t>Manual SI ⇄ BL comparison is repetitive — names, ports, containers, weights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FFB648"/>
                </a:solidFill>
              </a:rPr>
              <a:t>Same information, different words:  "Port of Loading"  vs  "Load Port"  vs  "POL"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8EEFF"/>
                </a:solidFill>
              </a:rPr>
              <a:t>A missed discrepancy = corrections, delays, extra cost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4DA3FF"/>
                </a:solidFill>
              </a:rPr>
              <a:t>What We Built — 5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E8EEFF"/>
                </a:solidFill>
              </a:rPr>
              <a:t>L1 TRIAGE     — classifies all 5 categories (AI-first, deterministic fallback)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8EEFF"/>
                </a:solidFill>
              </a:rPr>
              <a:t>L2 EXTRACT  — 7 fields from txt / PDF / Excel / Word — synonyms aligned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8EEFF"/>
                </a:solidFill>
              </a:rPr>
              <a:t>                    + a conditional multi-agent "court" convenes only for hard documents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8EEFF"/>
                </a:solidFill>
              </a:rPr>
              <a:t>L3 VERIFY     — an adversarial pass that tries to BREAK every extraction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8EEFF"/>
                </a:solidFill>
              </a:rPr>
              <a:t>L4 COMPARE — typed comparison: numbers as numbers, labels normalized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8EEFF"/>
                </a:solidFill>
              </a:rPr>
              <a:t>L5 JUDGE       — refuses to guess: 4 canonical escalation reasons + evidence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4DA3FF"/>
                </a:solidFill>
              </a:rPr>
              <a:t>🛡 Prompt-injection sanitizer: documents are untrusted input, never instructions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4DA3FF"/>
                </a:solidFill>
              </a:rPr>
              <a:t>Hybrid AI — the best of both worlds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E8EEFF"/>
                </a:solidFill>
              </a:rPr>
              <a:t>AI-first: LLMs read, extract and verify when configured (Gemini / GPT / any provider)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8EEFF"/>
                </a:solidFill>
              </a:rPr>
              <a:t>Deterministic guarantee: a measured rules fallback keeps runs fast, free, reproducible</a:t>
            </a:r>
          </a:p>
          <a:p>
            <a:pPr>
              <a:spcAft>
                <a:spcPts val="1000"/>
              </a:spcAft>
            </a:pPr>
            <a:r>
              <a:rPr sz="2100" b="1">
                <a:solidFill>
                  <a:srgbClr val="4DA3FF"/>
                </a:solidFill>
              </a:rPr>
              <a:t>Try it live: paste a brand-new email in the dashboard → AI path classifies + compares it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8EEFF"/>
                </a:solidFill>
              </a:rPr>
              <a:t>Built as a drop-in extension of the OFFICIAL participant loader — same API, verbatim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8EEFF"/>
                </a:solidFill>
              </a:rPr>
              <a:t>Never touched the hidden answer key — self-evaluation via the official /submit 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4DA3FF"/>
                </a:solidFill>
              </a:rPr>
              <a:t>Results — Official Self-Evaluation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>
                <a:solidFill>
                  <a:srgbClr val="2ECC71"/>
                </a:solidFill>
              </a:rPr>
              <a:t>Classification macro-F1        1.000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2ECC71"/>
                </a:solidFill>
              </a:rPr>
              <a:t>Defect detection F1              1.000   (field-level F1 1.000, exact-match 1.000)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2ECC71"/>
                </a:solidFill>
              </a:rPr>
              <a:t>END-TO-END (50% weight)    46 / 46  =  1.000</a:t>
            </a:r>
          </a:p>
          <a:p>
            <a:pPr>
              <a:spcAft>
                <a:spcPts val="1000"/>
              </a:spcAft>
            </a:pPr>
            <a:r>
              <a:rPr sz="2400" b="1">
                <a:solidFill>
                  <a:srgbClr val="2ECC71"/>
                </a:solidFill>
              </a:rPr>
              <a:t>Reliability axis                     recall 1.00 · precision 1.00 — 20/20 escalations, zero false alarms</a:t>
            </a:r>
          </a:p>
          <a:p>
            <a:pPr>
              <a:spcAft>
                <a:spcPts val="1000"/>
              </a:spcAft>
            </a:pPr>
            <a:r>
              <a:rPr sz="800" b="0">
                <a:solidFill>
                  <a:srgbClr val="E8EEFF"/>
                </a:solidFill>
              </a:rPr>
              <a:t> 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4DA3FF"/>
                </a:solidFill>
              </a:rPr>
              <a:t>Journey: 0.688 → 0.907 → 0.965 → 0.998 → 1.000 in 7 self-eval calls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8FA3CC"/>
                </a:solidFill>
              </a:rPr>
              <a:t>No ground-truth access. Every fix came from debugging visible outputs.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4DA3FF"/>
                </a:solidFill>
              </a:rPr>
              <a:t>Reliability — two real bugs we caught with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E8EEFF"/>
                </a:solidFill>
              </a:rPr>
              <a:t>Security banners ("…links or attachments.") were read as attachment evidence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8EEFF"/>
                </a:solidFill>
              </a:rPr>
              <a:t>      → 127 over-escalations, precision 0.14   →   fixed: banners are boilerplate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8EEFF"/>
                </a:solidFill>
              </a:rPr>
              <a:t>"SHIPPER:" with an empty value was treated as a missing field, not a blank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8EEFF"/>
                </a:solidFill>
              </a:rPr>
              <a:t>      → a blank is uncertainty → NEEDS_REVIEW, not a defect, not a clean pass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2ECC71"/>
                </a:solidFill>
              </a:rPr>
              <a:t>Now: every escalation is correct (20/20) and every edge case is caught (20/20)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4DA3FF"/>
                </a:solidFill>
              </a:rPr>
              <a:t>Human-in-the-loop is a feature: the system knows what it does not know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4DA3FF"/>
                </a:solidFill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E8EEFF"/>
                </a:solidFill>
              </a:rPr>
              <a:t>Dashboard: every email, every field, evidence side-by-side</a:t>
            </a:r>
          </a:p>
          <a:p>
            <a:pPr>
              <a:spcAft>
                <a:spcPts val="1000"/>
              </a:spcAft>
            </a:pPr>
            <a:r>
              <a:rPr sz="2400" b="1">
                <a:solidFill>
                  <a:srgbClr val="4DA3FF"/>
                </a:solidFill>
              </a:rPr>
              <a:t>🧪 Generalization check: paste YOUR email — watch it classified &amp; compared live</a:t>
            </a:r>
          </a:p>
          <a:p>
            <a:pPr>
              <a:spcAft>
                <a:spcPts val="1000"/>
              </a:spcAft>
            </a:pPr>
            <a:r>
              <a:rPr sz="2400" b="1">
                <a:solidFill>
                  <a:srgbClr val="4DA3FF"/>
                </a:solidFill>
              </a:rPr>
              <a:t>🛡 Injection check: hide an instruction in a document — it gets flagged, never obeyed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8EEFF"/>
                </a:solidFill>
              </a:rPr>
              <a:t>▶ Self-Check: submits to the official scoring server from the UI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8EEFF"/>
                </a:solidFill>
              </a:rPr>
              <a:t> 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8EEFF"/>
                </a:solidFill>
              </a:rPr>
              <a:t>[LIVE LINK]        [GITHUB]        [VIDEO]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4DA3FF"/>
                </a:solidFill>
              </a:rPr>
              <a:t>Challenges We Faced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E8EEFF"/>
                </a:solidFill>
              </a:rPr>
              <a:t>pypdf extracts CJK labels as ■■ — bilingual BL labels needed custom normalization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8EEFF"/>
                </a:solidFill>
              </a:rPr>
              <a:t>reportlab PDFs parse as label-line / value-line — wrote a dedicated block parser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8EEFF"/>
                </a:solidFill>
              </a:rPr>
              <a:t>Underscore subjects broke word-boundary regexes ("SI NEEDED_ …")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8EEFF"/>
                </a:solidFill>
              </a:rPr>
              <a:t>Escalation vs false-alarm tension: over-escalating hides real defects — tuned by metrics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4DA3FF"/>
                </a:solidFill>
              </a:rPr>
              <a:t>Each fix was verified against the official scorer — measurement over intuition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4DA3FF"/>
                </a:solidFill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E8EEFF"/>
                </a:solidFill>
              </a:rPr>
              <a:t>Learning loop — human corrections teach the normalizer &amp; recalibrate escalation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8EEFF"/>
                </a:solidFill>
              </a:rPr>
              <a:t>OCR / vision lane for scanned documents, evidence anchored to regions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8EEFF"/>
                </a:solidFill>
              </a:rPr>
              <a:t>Review-queue prioritization by information gain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8EEFF"/>
                </a:solidFill>
              </a:rPr>
              <a:t>Cross-corpus intelligence: entity aliases across the whole inbox (notes, never defects)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>
                <a:solidFill>
                  <a:srgbClr val="E8EEFF"/>
                </a:solidFill>
              </a:rPr>
              <a:t>It reads every email, checks every field, shows its evidence —</a:t>
            </a:r>
          </a:p>
          <a:p>
            <a:r>
              <a:rPr sz="3000" b="1">
                <a:solidFill>
                  <a:srgbClr val="4DA3FF"/>
                </a:solidFill>
              </a:rPr>
              <a:t>and it knows when to ask for help.</a:t>
            </a:r>
          </a:p>
          <a:p>
            <a:r>
              <a:rPr sz="3400" b="1">
                <a:solidFill>
                  <a:srgbClr val="2ECC71"/>
                </a:solidFill>
              </a:rPr>
              <a:t>SENTINEL — it doesn't guess.</a:t>
            </a:r>
          </a:p>
          <a:p>
            <a:r>
              <a:rPr sz="1600">
                <a:solidFill>
                  <a:srgbClr val="8FA3CC"/>
                </a:solidFill>
              </a:rPr>
              <a:t>[TEAM NAME] · Averis × Monash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